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ebas Neue Cyrillic" charset="1" panose="02000506000000020004"/>
      <p:regular r:id="rId15"/>
    </p:embeddedFont>
    <p:embeddedFont>
      <p:font typeface="Bebas Neue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9600" y="1184914"/>
            <a:ext cx="12916630" cy="1958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0"/>
              </a:lnSpc>
            </a:pPr>
            <a:r>
              <a:rPr lang="en-US" sz="114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RFID Card Payment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5300" y="3009900"/>
            <a:ext cx="13694672" cy="344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3"/>
              </a:lnSpc>
            </a:pPr>
            <a:r>
              <a:rPr lang="en-US" sz="6602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Reloadable RFID Card Payment</a:t>
            </a:r>
          </a:p>
          <a:p>
            <a:pPr algn="l">
              <a:lnSpc>
                <a:spcPts val="9094"/>
              </a:lnSpc>
            </a:pPr>
            <a:r>
              <a:rPr lang="en-US" sz="6495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with Activation/Deactivation &amp; Lost Card Reporting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5300" y="7321412"/>
            <a:ext cx="4591780" cy="2611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spc="-74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Roel sadiang-abay </a:t>
            </a:r>
          </a:p>
          <a:p>
            <a:pPr algn="l">
              <a:lnSpc>
                <a:spcPts val="5180"/>
              </a:lnSpc>
            </a:pPr>
            <a:r>
              <a:rPr lang="en-US" sz="3700" spc="-74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lawrence james paclibar</a:t>
            </a:r>
          </a:p>
          <a:p>
            <a:pPr algn="l">
              <a:lnSpc>
                <a:spcPts val="5180"/>
              </a:lnSpc>
            </a:pPr>
            <a:r>
              <a:rPr lang="en-US" sz="3700" spc="-74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marco batollo</a:t>
            </a:r>
          </a:p>
          <a:p>
            <a:pPr algn="l">
              <a:lnSpc>
                <a:spcPts val="5180"/>
              </a:lnSpc>
            </a:pPr>
            <a:r>
              <a:rPr lang="en-US" sz="3700" spc="-74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dennis olandio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0050" y="3031454"/>
            <a:ext cx="10611580" cy="564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A digital solution for managing reloadable RFID transit cards.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Supports train station fare collection, reloads, and discounts.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sz="45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Designed for security, scalability, and ease of use.</a:t>
            </a:r>
          </a:p>
          <a:p>
            <a:pPr algn="l">
              <a:lnSpc>
                <a:spcPts val="643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529441" y="5406672"/>
            <a:ext cx="5309822" cy="5648746"/>
          </a:xfrm>
          <a:custGeom>
            <a:avLst/>
            <a:gdLst/>
            <a:ahLst/>
            <a:cxnLst/>
            <a:rect r="r" b="b" t="t" l="l"/>
            <a:pathLst>
              <a:path h="5648746" w="5309822">
                <a:moveTo>
                  <a:pt x="0" y="0"/>
                </a:moveTo>
                <a:lnTo>
                  <a:pt x="5309822" y="0"/>
                </a:lnTo>
                <a:lnTo>
                  <a:pt x="5309822" y="5648746"/>
                </a:lnTo>
                <a:lnTo>
                  <a:pt x="0" y="5648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47725"/>
            <a:ext cx="10611580" cy="155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89813" y="8257725"/>
            <a:ext cx="20111498" cy="946462"/>
            <a:chOff x="0" y="0"/>
            <a:chExt cx="5296855" cy="2492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96855" cy="249274"/>
            </a:xfrm>
            <a:custGeom>
              <a:avLst/>
              <a:gdLst/>
              <a:ahLst/>
              <a:cxnLst/>
              <a:rect r="r" b="b" t="t" l="l"/>
              <a:pathLst>
                <a:path h="249274" w="5296855">
                  <a:moveTo>
                    <a:pt x="0" y="0"/>
                  </a:moveTo>
                  <a:lnTo>
                    <a:pt x="5296855" y="0"/>
                  </a:lnTo>
                  <a:lnTo>
                    <a:pt x="5296855" y="249274"/>
                  </a:lnTo>
                  <a:lnTo>
                    <a:pt x="0" y="24927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B3D4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96855" cy="287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847725"/>
            <a:ext cx="10611580" cy="155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Key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50795"/>
            <a:ext cx="11583130" cy="509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Card purchase &amp; reloads: Easy issuance and reloading with audit trail.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Passenger info updates: Edit cardholder name and email anytime.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Ride charging: Automatic fare deduction on each tap.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Fare discounts: Student, senior, and PWD discounts applied instantly.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Lost card handling: Deactivate or mark cards as lost to prevent misuse.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Transaction visibility: View recent rides and balance updates.</a:t>
            </a:r>
          </a:p>
          <a:p>
            <a:pPr algn="l">
              <a:lnSpc>
                <a:spcPts val="503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29441" y="5406672"/>
            <a:ext cx="5309822" cy="5648746"/>
          </a:xfrm>
          <a:custGeom>
            <a:avLst/>
            <a:gdLst/>
            <a:ahLst/>
            <a:cxnLst/>
            <a:rect r="r" b="b" t="t" l="l"/>
            <a:pathLst>
              <a:path h="5648746" w="5309822">
                <a:moveTo>
                  <a:pt x="0" y="0"/>
                </a:moveTo>
                <a:lnTo>
                  <a:pt x="5309822" y="0"/>
                </a:lnTo>
                <a:lnTo>
                  <a:pt x="5309822" y="5648746"/>
                </a:lnTo>
                <a:lnTo>
                  <a:pt x="0" y="5648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47725"/>
            <a:ext cx="10611580" cy="155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User Roles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368676"/>
            <a:ext cx="10611580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Full access to all system modules.</a:t>
            </a: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Can generate reports and manage train stations.</a:t>
            </a: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Handles card status (activate, deactivate, lost).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76469"/>
            <a:ext cx="10611580" cy="95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spc="-11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admin: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9150" y="6835776"/>
            <a:ext cx="10611580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Issues new cards and reloads funds.</a:t>
            </a: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Edit card, name, email, fare category</a:t>
            </a: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Process</a:t>
            </a:r>
            <a:r>
              <a:rPr lang="en-US" sz="39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es rides and balance checks.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19150" y="5743569"/>
            <a:ext cx="10611580" cy="95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spc="-11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Cashier: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3450" y="3057509"/>
            <a:ext cx="10802080" cy="703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Passenger: Uses RFID card to tap at train stations.</a:t>
            </a: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Cashier: Issues/reloads cards, applies fare categories , Generate reports.</a:t>
            </a: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Admin: Monitors usage, generates reports, manages system.</a:t>
            </a: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System: Automatically applies discounts and records transactions.</a:t>
            </a: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Audit Trail: Every reload, ride, and status update is logged securely.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95350"/>
            <a:ext cx="10611580" cy="2114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Operational WorkflowOperational Workflow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29441" y="5406672"/>
            <a:ext cx="5309822" cy="5648746"/>
          </a:xfrm>
          <a:custGeom>
            <a:avLst/>
            <a:gdLst/>
            <a:ahLst/>
            <a:cxnLst/>
            <a:rect r="r" b="b" t="t" l="l"/>
            <a:pathLst>
              <a:path h="5648746" w="5309822">
                <a:moveTo>
                  <a:pt x="0" y="0"/>
                </a:moveTo>
                <a:lnTo>
                  <a:pt x="5309822" y="0"/>
                </a:lnTo>
                <a:lnTo>
                  <a:pt x="5309822" y="5648746"/>
                </a:lnTo>
                <a:lnTo>
                  <a:pt x="0" y="5648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47725"/>
            <a:ext cx="10611580" cy="155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Operational Notes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90819"/>
            <a:ext cx="13392880" cy="629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44" indent="-485772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Concurrency Safety: Prevents double charging with DB transaction locks.</a:t>
            </a:r>
          </a:p>
          <a:p>
            <a:pPr algn="l" marL="971544" indent="-485772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Discount Handling: Fare discounts normalized at tap time.</a:t>
            </a:r>
          </a:p>
          <a:p>
            <a:pPr algn="l" marL="971544" indent="-485772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Lost/Inactive Cards: Cannot be used for rides; neutral audit entry is logged.</a:t>
            </a:r>
          </a:p>
          <a:p>
            <a:pPr algn="l" marL="971544" indent="-485772" lvl="1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Scalability: Can support multiple stations with centralized database.</a:t>
            </a:r>
          </a:p>
          <a:p>
            <a:pPr algn="l">
              <a:lnSpc>
                <a:spcPts val="62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47725"/>
            <a:ext cx="10611580" cy="155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 Reports &amp; Monitoring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89813" y="8257725"/>
            <a:ext cx="20111498" cy="946462"/>
            <a:chOff x="0" y="0"/>
            <a:chExt cx="5296855" cy="2492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96855" cy="249274"/>
            </a:xfrm>
            <a:custGeom>
              <a:avLst/>
              <a:gdLst/>
              <a:ahLst/>
              <a:cxnLst/>
              <a:rect r="r" b="b" t="t" l="l"/>
              <a:pathLst>
                <a:path h="249274" w="5296855">
                  <a:moveTo>
                    <a:pt x="0" y="0"/>
                  </a:moveTo>
                  <a:lnTo>
                    <a:pt x="5296855" y="0"/>
                  </a:lnTo>
                  <a:lnTo>
                    <a:pt x="5296855" y="249274"/>
                  </a:lnTo>
                  <a:lnTo>
                    <a:pt x="0" y="249274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B3D4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296855" cy="287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62050" y="2561929"/>
            <a:ext cx="10611580" cy="616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491" indent="-539745" lvl="1">
              <a:lnSpc>
                <a:spcPts val="6999"/>
              </a:lnSpc>
              <a:buFont typeface="Arial"/>
              <a:buChar char="•"/>
            </a:pPr>
            <a:r>
              <a:rPr lang="en-US" sz="499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Summary Reports: Overview of transactions and active cards.</a:t>
            </a:r>
          </a:p>
          <a:p>
            <a:pPr algn="l" marL="1079491" indent="-539745" lvl="1">
              <a:lnSpc>
                <a:spcPts val="6999"/>
              </a:lnSpc>
              <a:buFont typeface="Arial"/>
              <a:buChar char="•"/>
            </a:pPr>
            <a:r>
              <a:rPr lang="en-US" sz="499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Revenue Reports: Track income from rides and reloads.</a:t>
            </a:r>
          </a:p>
          <a:p>
            <a:pPr algn="l" marL="1079491" indent="-539745" lvl="1">
              <a:lnSpc>
                <a:spcPts val="6999"/>
              </a:lnSpc>
              <a:buFont typeface="Arial"/>
              <a:buChar char="•"/>
            </a:pPr>
            <a:r>
              <a:rPr lang="en-US" sz="4999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Card Reports: Active, inactive, and lost card breakdowns.</a:t>
            </a:r>
          </a:p>
          <a:p>
            <a:pPr algn="l">
              <a:lnSpc>
                <a:spcPts val="69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29441" y="5406672"/>
            <a:ext cx="5309822" cy="5648746"/>
          </a:xfrm>
          <a:custGeom>
            <a:avLst/>
            <a:gdLst/>
            <a:ahLst/>
            <a:cxnLst/>
            <a:rect r="r" b="b" t="t" l="l"/>
            <a:pathLst>
              <a:path h="5648746" w="5309822">
                <a:moveTo>
                  <a:pt x="0" y="0"/>
                </a:moveTo>
                <a:lnTo>
                  <a:pt x="5309822" y="0"/>
                </a:lnTo>
                <a:lnTo>
                  <a:pt x="5309822" y="5648746"/>
                </a:lnTo>
                <a:lnTo>
                  <a:pt x="0" y="56487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47725"/>
            <a:ext cx="10611580" cy="155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900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Tech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92376"/>
            <a:ext cx="14554930" cy="665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Backend:</a:t>
            </a:r>
          </a:p>
          <a:p>
            <a:pPr algn="l" marL="1640835" indent="-546945" lvl="2">
              <a:lnSpc>
                <a:spcPts val="5319"/>
              </a:lnSpc>
              <a:buFont typeface="Arial"/>
              <a:buChar char="⚬"/>
            </a:pPr>
            <a:r>
              <a:rPr lang="en-US" sz="37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 Django Framework </a:t>
            </a:r>
          </a:p>
          <a:p>
            <a:pPr algn="l" marL="1640835" indent="-546945" lvl="2">
              <a:lnSpc>
                <a:spcPts val="5319"/>
              </a:lnSpc>
              <a:buFont typeface="Arial"/>
              <a:buChar char="⚬"/>
            </a:pPr>
            <a:r>
              <a:rPr lang="en-US" sz="37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 python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Database: SQLite 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Frontend:</a:t>
            </a:r>
          </a:p>
          <a:p>
            <a:pPr algn="l" marL="1640835" indent="-546945" lvl="2">
              <a:lnSpc>
                <a:spcPts val="5319"/>
              </a:lnSpc>
              <a:buFont typeface="Arial"/>
              <a:buChar char="⚬"/>
            </a:pPr>
            <a:r>
              <a:rPr lang="en-US" sz="37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HTML5 for structure</a:t>
            </a:r>
          </a:p>
          <a:p>
            <a:pPr algn="l" marL="1640835" indent="-546945" lvl="2">
              <a:lnSpc>
                <a:spcPts val="5319"/>
              </a:lnSpc>
              <a:buFont typeface="Arial"/>
              <a:buChar char="⚬"/>
            </a:pPr>
            <a:r>
              <a:rPr lang="en-US" sz="37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CSS3 / Bootstrap for responsive, modern UI</a:t>
            </a:r>
          </a:p>
          <a:p>
            <a:pPr algn="l" marL="1640835" indent="-546945" lvl="2">
              <a:lnSpc>
                <a:spcPts val="5319"/>
              </a:lnSpc>
              <a:buFont typeface="Arial"/>
              <a:buChar char="⚬"/>
            </a:pPr>
            <a:r>
              <a:rPr lang="en-US" sz="37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JavaScript for interactivity (balance checks, live updates)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Security: Role-based access control, token authentication</a:t>
            </a:r>
          </a:p>
          <a:p>
            <a:pPr algn="l">
              <a:lnSpc>
                <a:spcPts val="531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28950" y="2489909"/>
            <a:ext cx="10611580" cy="330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7"/>
              </a:lnSpc>
            </a:pPr>
            <a:r>
              <a:rPr lang="en-US" sz="19198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5750" y="7423859"/>
            <a:ext cx="10611580" cy="2990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spc="-68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Roel sadiang-abay </a:t>
            </a:r>
          </a:p>
          <a:p>
            <a:pPr algn="l">
              <a:lnSpc>
                <a:spcPts val="4760"/>
              </a:lnSpc>
            </a:pPr>
            <a:r>
              <a:rPr lang="en-US" sz="3400" spc="-68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lawrence james paclibar</a:t>
            </a:r>
          </a:p>
          <a:p>
            <a:pPr algn="l">
              <a:lnSpc>
                <a:spcPts val="4760"/>
              </a:lnSpc>
            </a:pPr>
            <a:r>
              <a:rPr lang="en-US" sz="3400" spc="-68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marco batollo</a:t>
            </a:r>
          </a:p>
          <a:p>
            <a:pPr algn="l">
              <a:lnSpc>
                <a:spcPts val="4760"/>
              </a:lnSpc>
            </a:pPr>
            <a:r>
              <a:rPr lang="en-US" sz="3400" spc="-68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dennis olandio</a:t>
            </a:r>
          </a:p>
          <a:p>
            <a:pPr algn="l">
              <a:lnSpc>
                <a:spcPts val="476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DAGyvJHqLZs</dc:identifier>
  <dcterms:modified xsi:type="dcterms:W3CDTF">2011-08-01T06:04:30Z</dcterms:modified>
  <cp:revision>1</cp:revision>
  <dc:title>Black and White Minimalist Project Proposal Presentation</dc:title>
</cp:coreProperties>
</file>